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1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52517-0AA9-4773-9AFC-41EE4803037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2E34FA4-C9CF-4247-BDC5-D83FCE4D6087}">
      <dgm:prSet custT="1"/>
      <dgm:spPr/>
      <dgm:t>
        <a:bodyPr/>
        <a:lstStyle/>
        <a:p>
          <a:r>
            <a:rPr lang="en-US" sz="1800" dirty="0"/>
            <a:t>Efficiency Gains: Rank-based Slotting + Optimal TSP.</a:t>
          </a:r>
        </a:p>
      </dgm:t>
    </dgm:pt>
    <dgm:pt modelId="{572F8B18-5B6B-4401-AE18-10BB74BB904F}" type="parTrans" cxnId="{809B2EFA-FF94-4F9E-9B8B-507AD718CFCB}">
      <dgm:prSet/>
      <dgm:spPr/>
      <dgm:t>
        <a:bodyPr/>
        <a:lstStyle/>
        <a:p>
          <a:endParaRPr lang="en-US"/>
        </a:p>
      </dgm:t>
    </dgm:pt>
    <dgm:pt modelId="{E6AE3ACA-CF1D-4E1B-9F1E-925EDD96BAEE}" type="sibTrans" cxnId="{809B2EFA-FF94-4F9E-9B8B-507AD718CFCB}">
      <dgm:prSet/>
      <dgm:spPr/>
      <dgm:t>
        <a:bodyPr/>
        <a:lstStyle/>
        <a:p>
          <a:endParaRPr lang="en-US"/>
        </a:p>
      </dgm:t>
    </dgm:pt>
    <dgm:pt modelId="{33F24A4E-54C9-4794-8233-0B707FB9D2F0}">
      <dgm:prSet custT="1"/>
      <dgm:spPr/>
      <dgm:t>
        <a:bodyPr/>
        <a:lstStyle/>
        <a:p>
          <a:r>
            <a:rPr lang="en-US" sz="1800" dirty="0"/>
            <a:t>Scalability: Handles real-time arrivals and dynamic assignments.</a:t>
          </a:r>
        </a:p>
      </dgm:t>
    </dgm:pt>
    <dgm:pt modelId="{FF854437-74C0-42E7-BD1E-519A8B8F1D89}" type="parTrans" cxnId="{DE81D9A6-CB90-43AF-80B4-34B8E1DF84F0}">
      <dgm:prSet/>
      <dgm:spPr/>
      <dgm:t>
        <a:bodyPr/>
        <a:lstStyle/>
        <a:p>
          <a:endParaRPr lang="en-US"/>
        </a:p>
      </dgm:t>
    </dgm:pt>
    <dgm:pt modelId="{0596F0DC-641F-446B-AFCC-BBA1C52A953F}" type="sibTrans" cxnId="{DE81D9A6-CB90-43AF-80B4-34B8E1DF84F0}">
      <dgm:prSet/>
      <dgm:spPr/>
      <dgm:t>
        <a:bodyPr/>
        <a:lstStyle/>
        <a:p>
          <a:endParaRPr lang="en-US"/>
        </a:p>
      </dgm:t>
    </dgm:pt>
    <dgm:pt modelId="{58AE6691-29E4-4DC7-BB57-E4D8EFF43A03}">
      <dgm:prSet custT="1"/>
      <dgm:spPr/>
      <dgm:t>
        <a:bodyPr/>
        <a:lstStyle/>
        <a:p>
          <a:r>
            <a:rPr lang="en-US" sz="1800" dirty="0"/>
            <a:t>Future Work: Machine learning for demand prediction.</a:t>
          </a:r>
        </a:p>
      </dgm:t>
    </dgm:pt>
    <dgm:pt modelId="{81F45130-13B2-45CD-B893-D2957A2193A8}" type="parTrans" cxnId="{87D8A9CE-A457-4FFD-9FA2-468B2E183EE0}">
      <dgm:prSet/>
      <dgm:spPr/>
      <dgm:t>
        <a:bodyPr/>
        <a:lstStyle/>
        <a:p>
          <a:endParaRPr lang="en-US"/>
        </a:p>
      </dgm:t>
    </dgm:pt>
    <dgm:pt modelId="{DBA988AC-4F78-4A29-98AD-BE4C4FEA860B}" type="sibTrans" cxnId="{87D8A9CE-A457-4FFD-9FA2-468B2E183EE0}">
      <dgm:prSet/>
      <dgm:spPr/>
      <dgm:t>
        <a:bodyPr/>
        <a:lstStyle/>
        <a:p>
          <a:endParaRPr lang="en-US"/>
        </a:p>
      </dgm:t>
    </dgm:pt>
    <dgm:pt modelId="{3A8CAF45-A31D-4481-972E-7F82315BB3DC}" type="pres">
      <dgm:prSet presAssocID="{DCB52517-0AA9-4773-9AFC-41EE4803037B}" presName="root" presStyleCnt="0">
        <dgm:presLayoutVars>
          <dgm:dir/>
          <dgm:resizeHandles val="exact"/>
        </dgm:presLayoutVars>
      </dgm:prSet>
      <dgm:spPr/>
    </dgm:pt>
    <dgm:pt modelId="{E2D8B58B-5E16-4810-BC45-527C960150B0}" type="pres">
      <dgm:prSet presAssocID="{52E34FA4-C9CF-4247-BDC5-D83FCE4D6087}" presName="compNode" presStyleCnt="0"/>
      <dgm:spPr/>
    </dgm:pt>
    <dgm:pt modelId="{1818E794-A780-4FD7-8728-9BB00E32073D}" type="pres">
      <dgm:prSet presAssocID="{52E34FA4-C9CF-4247-BDC5-D83FCE4D608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B802CC3-98E0-46E6-BB4B-F6344DF89FF6}" type="pres">
      <dgm:prSet presAssocID="{52E34FA4-C9CF-4247-BDC5-D83FCE4D6087}" presName="spaceRect" presStyleCnt="0"/>
      <dgm:spPr/>
    </dgm:pt>
    <dgm:pt modelId="{DD3F815E-E78D-40A9-828B-5B64175914B1}" type="pres">
      <dgm:prSet presAssocID="{52E34FA4-C9CF-4247-BDC5-D83FCE4D6087}" presName="textRect" presStyleLbl="revTx" presStyleIdx="0" presStyleCnt="3">
        <dgm:presLayoutVars>
          <dgm:chMax val="1"/>
          <dgm:chPref val="1"/>
        </dgm:presLayoutVars>
      </dgm:prSet>
      <dgm:spPr/>
    </dgm:pt>
    <dgm:pt modelId="{7408CDDC-19AE-4911-9A1D-E726125E28A7}" type="pres">
      <dgm:prSet presAssocID="{E6AE3ACA-CF1D-4E1B-9F1E-925EDD96BAEE}" presName="sibTrans" presStyleCnt="0"/>
      <dgm:spPr/>
    </dgm:pt>
    <dgm:pt modelId="{3B8C8E59-6659-4F26-9F02-12246340465C}" type="pres">
      <dgm:prSet presAssocID="{33F24A4E-54C9-4794-8233-0B707FB9D2F0}" presName="compNode" presStyleCnt="0"/>
      <dgm:spPr/>
    </dgm:pt>
    <dgm:pt modelId="{27406AF2-4028-43E3-892E-D7331C6597C7}" type="pres">
      <dgm:prSet presAssocID="{33F24A4E-54C9-4794-8233-0B707FB9D2F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9A8ED69-1383-42DD-9F6F-6DF092150B80}" type="pres">
      <dgm:prSet presAssocID="{33F24A4E-54C9-4794-8233-0B707FB9D2F0}" presName="spaceRect" presStyleCnt="0"/>
      <dgm:spPr/>
    </dgm:pt>
    <dgm:pt modelId="{1333DE4E-00D3-40A9-89DD-2B066913D565}" type="pres">
      <dgm:prSet presAssocID="{33F24A4E-54C9-4794-8233-0B707FB9D2F0}" presName="textRect" presStyleLbl="revTx" presStyleIdx="1" presStyleCnt="3">
        <dgm:presLayoutVars>
          <dgm:chMax val="1"/>
          <dgm:chPref val="1"/>
        </dgm:presLayoutVars>
      </dgm:prSet>
      <dgm:spPr/>
    </dgm:pt>
    <dgm:pt modelId="{2BC61EDC-87C0-4303-A322-BAAFE5851A3A}" type="pres">
      <dgm:prSet presAssocID="{0596F0DC-641F-446B-AFCC-BBA1C52A953F}" presName="sibTrans" presStyleCnt="0"/>
      <dgm:spPr/>
    </dgm:pt>
    <dgm:pt modelId="{A97DAC74-0941-47BF-B400-DABCE48C523E}" type="pres">
      <dgm:prSet presAssocID="{58AE6691-29E4-4DC7-BB57-E4D8EFF43A03}" presName="compNode" presStyleCnt="0"/>
      <dgm:spPr/>
    </dgm:pt>
    <dgm:pt modelId="{375F8D82-F4DA-42BF-AC0E-1C2542A80120}" type="pres">
      <dgm:prSet presAssocID="{58AE6691-29E4-4DC7-BB57-E4D8EFF43A0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A135809-E098-4E5B-84C3-9E7EF39E7180}" type="pres">
      <dgm:prSet presAssocID="{58AE6691-29E4-4DC7-BB57-E4D8EFF43A03}" presName="spaceRect" presStyleCnt="0"/>
      <dgm:spPr/>
    </dgm:pt>
    <dgm:pt modelId="{6567C59F-DE5D-479C-AB6B-2405C668B390}" type="pres">
      <dgm:prSet presAssocID="{58AE6691-29E4-4DC7-BB57-E4D8EFF43A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135572-06C5-45AF-9025-61DC3FE18FC7}" type="presOf" srcId="{52E34FA4-C9CF-4247-BDC5-D83FCE4D6087}" destId="{DD3F815E-E78D-40A9-828B-5B64175914B1}" srcOrd="0" destOrd="0" presId="urn:microsoft.com/office/officeart/2018/2/layout/IconLabelList"/>
    <dgm:cxn modelId="{3385EF87-765A-4008-8D62-CB129B624314}" type="presOf" srcId="{DCB52517-0AA9-4773-9AFC-41EE4803037B}" destId="{3A8CAF45-A31D-4481-972E-7F82315BB3DC}" srcOrd="0" destOrd="0" presId="urn:microsoft.com/office/officeart/2018/2/layout/IconLabelList"/>
    <dgm:cxn modelId="{DE81D9A6-CB90-43AF-80B4-34B8E1DF84F0}" srcId="{DCB52517-0AA9-4773-9AFC-41EE4803037B}" destId="{33F24A4E-54C9-4794-8233-0B707FB9D2F0}" srcOrd="1" destOrd="0" parTransId="{FF854437-74C0-42E7-BD1E-519A8B8F1D89}" sibTransId="{0596F0DC-641F-446B-AFCC-BBA1C52A953F}"/>
    <dgm:cxn modelId="{87D8A9CE-A457-4FFD-9FA2-468B2E183EE0}" srcId="{DCB52517-0AA9-4773-9AFC-41EE4803037B}" destId="{58AE6691-29E4-4DC7-BB57-E4D8EFF43A03}" srcOrd="2" destOrd="0" parTransId="{81F45130-13B2-45CD-B893-D2957A2193A8}" sibTransId="{DBA988AC-4F78-4A29-98AD-BE4C4FEA860B}"/>
    <dgm:cxn modelId="{E120BFDA-78D1-4D98-99E2-50F0B19FE1EA}" type="presOf" srcId="{58AE6691-29E4-4DC7-BB57-E4D8EFF43A03}" destId="{6567C59F-DE5D-479C-AB6B-2405C668B390}" srcOrd="0" destOrd="0" presId="urn:microsoft.com/office/officeart/2018/2/layout/IconLabelList"/>
    <dgm:cxn modelId="{E0F1F6DF-C1E3-43E1-A83D-124FADC68F2E}" type="presOf" srcId="{33F24A4E-54C9-4794-8233-0B707FB9D2F0}" destId="{1333DE4E-00D3-40A9-89DD-2B066913D565}" srcOrd="0" destOrd="0" presId="urn:microsoft.com/office/officeart/2018/2/layout/IconLabelList"/>
    <dgm:cxn modelId="{809B2EFA-FF94-4F9E-9B8B-507AD718CFCB}" srcId="{DCB52517-0AA9-4773-9AFC-41EE4803037B}" destId="{52E34FA4-C9CF-4247-BDC5-D83FCE4D6087}" srcOrd="0" destOrd="0" parTransId="{572F8B18-5B6B-4401-AE18-10BB74BB904F}" sibTransId="{E6AE3ACA-CF1D-4E1B-9F1E-925EDD96BAEE}"/>
    <dgm:cxn modelId="{CF05AE39-CCAD-45DE-B83E-EEE88C7A5DDD}" type="presParOf" srcId="{3A8CAF45-A31D-4481-972E-7F82315BB3DC}" destId="{E2D8B58B-5E16-4810-BC45-527C960150B0}" srcOrd="0" destOrd="0" presId="urn:microsoft.com/office/officeart/2018/2/layout/IconLabelList"/>
    <dgm:cxn modelId="{8F6F60AC-CE8D-4E44-A9EB-B7C68F5D45DF}" type="presParOf" srcId="{E2D8B58B-5E16-4810-BC45-527C960150B0}" destId="{1818E794-A780-4FD7-8728-9BB00E32073D}" srcOrd="0" destOrd="0" presId="urn:microsoft.com/office/officeart/2018/2/layout/IconLabelList"/>
    <dgm:cxn modelId="{452D5F21-EF7D-40F3-BA65-25572F093418}" type="presParOf" srcId="{E2D8B58B-5E16-4810-BC45-527C960150B0}" destId="{CB802CC3-98E0-46E6-BB4B-F6344DF89FF6}" srcOrd="1" destOrd="0" presId="urn:microsoft.com/office/officeart/2018/2/layout/IconLabelList"/>
    <dgm:cxn modelId="{43A3A08F-824F-44C1-91F9-243950E38C62}" type="presParOf" srcId="{E2D8B58B-5E16-4810-BC45-527C960150B0}" destId="{DD3F815E-E78D-40A9-828B-5B64175914B1}" srcOrd="2" destOrd="0" presId="urn:microsoft.com/office/officeart/2018/2/layout/IconLabelList"/>
    <dgm:cxn modelId="{6F348E7E-D78E-4057-B93B-2BD3D476BA9F}" type="presParOf" srcId="{3A8CAF45-A31D-4481-972E-7F82315BB3DC}" destId="{7408CDDC-19AE-4911-9A1D-E726125E28A7}" srcOrd="1" destOrd="0" presId="urn:microsoft.com/office/officeart/2018/2/layout/IconLabelList"/>
    <dgm:cxn modelId="{70F667E0-9977-4B4D-9663-8A4A6618FEC6}" type="presParOf" srcId="{3A8CAF45-A31D-4481-972E-7F82315BB3DC}" destId="{3B8C8E59-6659-4F26-9F02-12246340465C}" srcOrd="2" destOrd="0" presId="urn:microsoft.com/office/officeart/2018/2/layout/IconLabelList"/>
    <dgm:cxn modelId="{38053C03-C966-48F3-BB1F-E2372B9F1921}" type="presParOf" srcId="{3B8C8E59-6659-4F26-9F02-12246340465C}" destId="{27406AF2-4028-43E3-892E-D7331C6597C7}" srcOrd="0" destOrd="0" presId="urn:microsoft.com/office/officeart/2018/2/layout/IconLabelList"/>
    <dgm:cxn modelId="{3E4149FD-F2A3-4B8B-A526-A3B99131E5E6}" type="presParOf" srcId="{3B8C8E59-6659-4F26-9F02-12246340465C}" destId="{59A8ED69-1383-42DD-9F6F-6DF092150B80}" srcOrd="1" destOrd="0" presId="urn:microsoft.com/office/officeart/2018/2/layout/IconLabelList"/>
    <dgm:cxn modelId="{C73FFF85-D242-4FD0-8A57-9375DB4F01D5}" type="presParOf" srcId="{3B8C8E59-6659-4F26-9F02-12246340465C}" destId="{1333DE4E-00D3-40A9-89DD-2B066913D565}" srcOrd="2" destOrd="0" presId="urn:microsoft.com/office/officeart/2018/2/layout/IconLabelList"/>
    <dgm:cxn modelId="{585544CE-3ABF-48D4-86D8-900A8AF1E1ED}" type="presParOf" srcId="{3A8CAF45-A31D-4481-972E-7F82315BB3DC}" destId="{2BC61EDC-87C0-4303-A322-BAAFE5851A3A}" srcOrd="3" destOrd="0" presId="urn:microsoft.com/office/officeart/2018/2/layout/IconLabelList"/>
    <dgm:cxn modelId="{6242DAD7-F199-41A7-8190-E3FEA3B6AA2A}" type="presParOf" srcId="{3A8CAF45-A31D-4481-972E-7F82315BB3DC}" destId="{A97DAC74-0941-47BF-B400-DABCE48C523E}" srcOrd="4" destOrd="0" presId="urn:microsoft.com/office/officeart/2018/2/layout/IconLabelList"/>
    <dgm:cxn modelId="{E2D1CB5C-640C-4FAC-9022-3912F5C210D0}" type="presParOf" srcId="{A97DAC74-0941-47BF-B400-DABCE48C523E}" destId="{375F8D82-F4DA-42BF-AC0E-1C2542A80120}" srcOrd="0" destOrd="0" presId="urn:microsoft.com/office/officeart/2018/2/layout/IconLabelList"/>
    <dgm:cxn modelId="{07CAD090-BFD8-4434-BFD2-5AD17CD1B660}" type="presParOf" srcId="{A97DAC74-0941-47BF-B400-DABCE48C523E}" destId="{CA135809-E098-4E5B-84C3-9E7EF39E7180}" srcOrd="1" destOrd="0" presId="urn:microsoft.com/office/officeart/2018/2/layout/IconLabelList"/>
    <dgm:cxn modelId="{A092793C-1E28-4F4B-8D91-2E61ADFEEDCB}" type="presParOf" srcId="{A97DAC74-0941-47BF-B400-DABCE48C523E}" destId="{6567C59F-DE5D-479C-AB6B-2405C668B3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DC75DB-B382-455E-80B4-8508DBEF23F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8874D64-0D03-4616-93DA-4535ED28A573}">
      <dgm:prSet/>
      <dgm:spPr/>
      <dgm:t>
        <a:bodyPr/>
        <a:lstStyle/>
        <a:p>
          <a:r>
            <a:rPr lang="en-US"/>
            <a:t>Thank You!</a:t>
          </a:r>
        </a:p>
      </dgm:t>
    </dgm:pt>
    <dgm:pt modelId="{4290BDB1-C934-456F-BE27-AF341E4A8001}" type="parTrans" cxnId="{665A0999-5908-4F4B-AB98-7A248BB230D0}">
      <dgm:prSet/>
      <dgm:spPr/>
      <dgm:t>
        <a:bodyPr/>
        <a:lstStyle/>
        <a:p>
          <a:endParaRPr lang="en-US"/>
        </a:p>
      </dgm:t>
    </dgm:pt>
    <dgm:pt modelId="{0A28E37E-AFDE-488F-A7CF-FDE9ECD298FC}" type="sibTrans" cxnId="{665A0999-5908-4F4B-AB98-7A248BB230D0}">
      <dgm:prSet/>
      <dgm:spPr/>
      <dgm:t>
        <a:bodyPr/>
        <a:lstStyle/>
        <a:p>
          <a:endParaRPr lang="en-US"/>
        </a:p>
      </dgm:t>
    </dgm:pt>
    <dgm:pt modelId="{EEBB6962-E025-4495-825F-D41C7E7EC36C}">
      <dgm:prSet/>
      <dgm:spPr/>
      <dgm:t>
        <a:bodyPr/>
        <a:lstStyle/>
        <a:p>
          <a:r>
            <a:rPr lang="en-US"/>
            <a:t>Questions?</a:t>
          </a:r>
        </a:p>
      </dgm:t>
    </dgm:pt>
    <dgm:pt modelId="{7B6B27FD-6E10-4743-867B-ABA83CBF579A}" type="parTrans" cxnId="{1719E490-7E2A-4FA3-851B-616901EC3042}">
      <dgm:prSet/>
      <dgm:spPr/>
      <dgm:t>
        <a:bodyPr/>
        <a:lstStyle/>
        <a:p>
          <a:endParaRPr lang="en-US"/>
        </a:p>
      </dgm:t>
    </dgm:pt>
    <dgm:pt modelId="{5BBB2013-2A7A-46ED-B05C-E462C3A09BF3}" type="sibTrans" cxnId="{1719E490-7E2A-4FA3-851B-616901EC3042}">
      <dgm:prSet/>
      <dgm:spPr/>
      <dgm:t>
        <a:bodyPr/>
        <a:lstStyle/>
        <a:p>
          <a:endParaRPr lang="en-US"/>
        </a:p>
      </dgm:t>
    </dgm:pt>
    <dgm:pt modelId="{C1080792-8F61-49E5-AE95-3229555FA809}" type="pres">
      <dgm:prSet presAssocID="{E4DC75DB-B382-455E-80B4-8508DBEF23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E130DD-713A-4149-A736-85E7A57B32D1}" type="pres">
      <dgm:prSet presAssocID="{48874D64-0D03-4616-93DA-4535ED28A573}" presName="hierRoot1" presStyleCnt="0"/>
      <dgm:spPr/>
    </dgm:pt>
    <dgm:pt modelId="{1C45E0FE-1866-4A5E-B636-6164998A63A0}" type="pres">
      <dgm:prSet presAssocID="{48874D64-0D03-4616-93DA-4535ED28A573}" presName="composite" presStyleCnt="0"/>
      <dgm:spPr/>
    </dgm:pt>
    <dgm:pt modelId="{A197FC21-6C17-4BC3-ADDD-67A62D8F1734}" type="pres">
      <dgm:prSet presAssocID="{48874D64-0D03-4616-93DA-4535ED28A573}" presName="background" presStyleLbl="node0" presStyleIdx="0" presStyleCnt="2"/>
      <dgm:spPr/>
    </dgm:pt>
    <dgm:pt modelId="{5189C763-0F43-4E36-BEC0-13A57DFDB6F4}" type="pres">
      <dgm:prSet presAssocID="{48874D64-0D03-4616-93DA-4535ED28A573}" presName="text" presStyleLbl="fgAcc0" presStyleIdx="0" presStyleCnt="2">
        <dgm:presLayoutVars>
          <dgm:chPref val="3"/>
        </dgm:presLayoutVars>
      </dgm:prSet>
      <dgm:spPr/>
    </dgm:pt>
    <dgm:pt modelId="{40C657A2-D29D-4226-AE53-68FD9CE62322}" type="pres">
      <dgm:prSet presAssocID="{48874D64-0D03-4616-93DA-4535ED28A573}" presName="hierChild2" presStyleCnt="0"/>
      <dgm:spPr/>
    </dgm:pt>
    <dgm:pt modelId="{440DEC25-290A-4515-95AC-A06F89099D0C}" type="pres">
      <dgm:prSet presAssocID="{EEBB6962-E025-4495-825F-D41C7E7EC36C}" presName="hierRoot1" presStyleCnt="0"/>
      <dgm:spPr/>
    </dgm:pt>
    <dgm:pt modelId="{882CF230-97F6-437C-B8E6-A5356844256A}" type="pres">
      <dgm:prSet presAssocID="{EEBB6962-E025-4495-825F-D41C7E7EC36C}" presName="composite" presStyleCnt="0"/>
      <dgm:spPr/>
    </dgm:pt>
    <dgm:pt modelId="{FE78AE6E-AF2D-4353-A69B-D3E2C7F0C540}" type="pres">
      <dgm:prSet presAssocID="{EEBB6962-E025-4495-825F-D41C7E7EC36C}" presName="background" presStyleLbl="node0" presStyleIdx="1" presStyleCnt="2"/>
      <dgm:spPr/>
    </dgm:pt>
    <dgm:pt modelId="{B37540BE-6A59-4C5F-80AA-D3296C046249}" type="pres">
      <dgm:prSet presAssocID="{EEBB6962-E025-4495-825F-D41C7E7EC36C}" presName="text" presStyleLbl="fgAcc0" presStyleIdx="1" presStyleCnt="2">
        <dgm:presLayoutVars>
          <dgm:chPref val="3"/>
        </dgm:presLayoutVars>
      </dgm:prSet>
      <dgm:spPr/>
    </dgm:pt>
    <dgm:pt modelId="{3630053D-7071-4361-B778-AF979DC416D4}" type="pres">
      <dgm:prSet presAssocID="{EEBB6962-E025-4495-825F-D41C7E7EC36C}" presName="hierChild2" presStyleCnt="0"/>
      <dgm:spPr/>
    </dgm:pt>
  </dgm:ptLst>
  <dgm:cxnLst>
    <dgm:cxn modelId="{3C1C207D-59FA-4397-B1FD-920BDE5C64BC}" type="presOf" srcId="{48874D64-0D03-4616-93DA-4535ED28A573}" destId="{5189C763-0F43-4E36-BEC0-13A57DFDB6F4}" srcOrd="0" destOrd="0" presId="urn:microsoft.com/office/officeart/2005/8/layout/hierarchy1"/>
    <dgm:cxn modelId="{1719E490-7E2A-4FA3-851B-616901EC3042}" srcId="{E4DC75DB-B382-455E-80B4-8508DBEF23FF}" destId="{EEBB6962-E025-4495-825F-D41C7E7EC36C}" srcOrd="1" destOrd="0" parTransId="{7B6B27FD-6E10-4743-867B-ABA83CBF579A}" sibTransId="{5BBB2013-2A7A-46ED-B05C-E462C3A09BF3}"/>
    <dgm:cxn modelId="{665A0999-5908-4F4B-AB98-7A248BB230D0}" srcId="{E4DC75DB-B382-455E-80B4-8508DBEF23FF}" destId="{48874D64-0D03-4616-93DA-4535ED28A573}" srcOrd="0" destOrd="0" parTransId="{4290BDB1-C934-456F-BE27-AF341E4A8001}" sibTransId="{0A28E37E-AFDE-488F-A7CF-FDE9ECD298FC}"/>
    <dgm:cxn modelId="{CEB07B9C-BB26-4C85-BD9B-848287DF7C50}" type="presOf" srcId="{E4DC75DB-B382-455E-80B4-8508DBEF23FF}" destId="{C1080792-8F61-49E5-AE95-3229555FA809}" srcOrd="0" destOrd="0" presId="urn:microsoft.com/office/officeart/2005/8/layout/hierarchy1"/>
    <dgm:cxn modelId="{47879AB9-1976-464A-B032-F51892846DAE}" type="presOf" srcId="{EEBB6962-E025-4495-825F-D41C7E7EC36C}" destId="{B37540BE-6A59-4C5F-80AA-D3296C046249}" srcOrd="0" destOrd="0" presId="urn:microsoft.com/office/officeart/2005/8/layout/hierarchy1"/>
    <dgm:cxn modelId="{7C128957-A344-4E6A-824E-F0F8B0270177}" type="presParOf" srcId="{C1080792-8F61-49E5-AE95-3229555FA809}" destId="{21E130DD-713A-4149-A736-85E7A57B32D1}" srcOrd="0" destOrd="0" presId="urn:microsoft.com/office/officeart/2005/8/layout/hierarchy1"/>
    <dgm:cxn modelId="{F7D102B3-BAE8-425B-8807-CAD1C155FE21}" type="presParOf" srcId="{21E130DD-713A-4149-A736-85E7A57B32D1}" destId="{1C45E0FE-1866-4A5E-B636-6164998A63A0}" srcOrd="0" destOrd="0" presId="urn:microsoft.com/office/officeart/2005/8/layout/hierarchy1"/>
    <dgm:cxn modelId="{23DA898B-218A-4206-84DB-E08B5B9CE8DB}" type="presParOf" srcId="{1C45E0FE-1866-4A5E-B636-6164998A63A0}" destId="{A197FC21-6C17-4BC3-ADDD-67A62D8F1734}" srcOrd="0" destOrd="0" presId="urn:microsoft.com/office/officeart/2005/8/layout/hierarchy1"/>
    <dgm:cxn modelId="{0EF143D3-CA65-499B-A954-1F58AD60799D}" type="presParOf" srcId="{1C45E0FE-1866-4A5E-B636-6164998A63A0}" destId="{5189C763-0F43-4E36-BEC0-13A57DFDB6F4}" srcOrd="1" destOrd="0" presId="urn:microsoft.com/office/officeart/2005/8/layout/hierarchy1"/>
    <dgm:cxn modelId="{83D655B9-7469-4CFB-909F-91F69959DC0E}" type="presParOf" srcId="{21E130DD-713A-4149-A736-85E7A57B32D1}" destId="{40C657A2-D29D-4226-AE53-68FD9CE62322}" srcOrd="1" destOrd="0" presId="urn:microsoft.com/office/officeart/2005/8/layout/hierarchy1"/>
    <dgm:cxn modelId="{8D135D4A-2D35-4486-9296-1885DFC7A89E}" type="presParOf" srcId="{C1080792-8F61-49E5-AE95-3229555FA809}" destId="{440DEC25-290A-4515-95AC-A06F89099D0C}" srcOrd="1" destOrd="0" presId="urn:microsoft.com/office/officeart/2005/8/layout/hierarchy1"/>
    <dgm:cxn modelId="{78C1A41B-8046-43AB-96AF-12BD4351BD9A}" type="presParOf" srcId="{440DEC25-290A-4515-95AC-A06F89099D0C}" destId="{882CF230-97F6-437C-B8E6-A5356844256A}" srcOrd="0" destOrd="0" presId="urn:microsoft.com/office/officeart/2005/8/layout/hierarchy1"/>
    <dgm:cxn modelId="{B6114C7F-ED7F-4268-9E11-E9287BB87F0C}" type="presParOf" srcId="{882CF230-97F6-437C-B8E6-A5356844256A}" destId="{FE78AE6E-AF2D-4353-A69B-D3E2C7F0C540}" srcOrd="0" destOrd="0" presId="urn:microsoft.com/office/officeart/2005/8/layout/hierarchy1"/>
    <dgm:cxn modelId="{43A9D67B-E6BC-49B0-A047-DDE369CFB728}" type="presParOf" srcId="{882CF230-97F6-437C-B8E6-A5356844256A}" destId="{B37540BE-6A59-4C5F-80AA-D3296C046249}" srcOrd="1" destOrd="0" presId="urn:microsoft.com/office/officeart/2005/8/layout/hierarchy1"/>
    <dgm:cxn modelId="{4BAEDF6F-3438-4D13-8CB1-612F92A034C0}" type="presParOf" srcId="{440DEC25-290A-4515-95AC-A06F89099D0C}" destId="{3630053D-7071-4361-B778-AF979DC416D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8E794-A780-4FD7-8728-9BB00E32073D}">
      <dsp:nvSpPr>
        <dsp:cNvPr id="0" name=""/>
        <dsp:cNvSpPr/>
      </dsp:nvSpPr>
      <dsp:spPr>
        <a:xfrm>
          <a:off x="848329" y="579453"/>
          <a:ext cx="978295" cy="978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F815E-E78D-40A9-828B-5B64175914B1}">
      <dsp:nvSpPr>
        <dsp:cNvPr id="0" name=""/>
        <dsp:cNvSpPr/>
      </dsp:nvSpPr>
      <dsp:spPr>
        <a:xfrm>
          <a:off x="250482" y="1865448"/>
          <a:ext cx="2173989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Efficiency Gains: Rank-based Slotting + Optimal TSP.</a:t>
          </a:r>
        </a:p>
      </dsp:txBody>
      <dsp:txXfrm>
        <a:off x="250482" y="1865448"/>
        <a:ext cx="2173989" cy="765000"/>
      </dsp:txXfrm>
    </dsp:sp>
    <dsp:sp modelId="{27406AF2-4028-43E3-892E-D7331C6597C7}">
      <dsp:nvSpPr>
        <dsp:cNvPr id="0" name=""/>
        <dsp:cNvSpPr/>
      </dsp:nvSpPr>
      <dsp:spPr>
        <a:xfrm>
          <a:off x="3402767" y="579453"/>
          <a:ext cx="978295" cy="978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3DE4E-00D3-40A9-89DD-2B066913D565}">
      <dsp:nvSpPr>
        <dsp:cNvPr id="0" name=""/>
        <dsp:cNvSpPr/>
      </dsp:nvSpPr>
      <dsp:spPr>
        <a:xfrm>
          <a:off x="2804920" y="1865448"/>
          <a:ext cx="2173989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Scalability: Handles real-time arrivals and dynamic assignments.</a:t>
          </a:r>
        </a:p>
      </dsp:txBody>
      <dsp:txXfrm>
        <a:off x="2804920" y="1865448"/>
        <a:ext cx="2173989" cy="765000"/>
      </dsp:txXfrm>
    </dsp:sp>
    <dsp:sp modelId="{375F8D82-F4DA-42BF-AC0E-1C2542A80120}">
      <dsp:nvSpPr>
        <dsp:cNvPr id="0" name=""/>
        <dsp:cNvSpPr/>
      </dsp:nvSpPr>
      <dsp:spPr>
        <a:xfrm>
          <a:off x="5957204" y="579453"/>
          <a:ext cx="978295" cy="978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7C59F-DE5D-479C-AB6B-2405C668B390}">
      <dsp:nvSpPr>
        <dsp:cNvPr id="0" name=""/>
        <dsp:cNvSpPr/>
      </dsp:nvSpPr>
      <dsp:spPr>
        <a:xfrm>
          <a:off x="5359357" y="1865448"/>
          <a:ext cx="2173989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Future Work: Machine learning for demand prediction.</a:t>
          </a:r>
        </a:p>
      </dsp:txBody>
      <dsp:txXfrm>
        <a:off x="5359357" y="1865448"/>
        <a:ext cx="2173989" cy="7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7FC21-6C17-4BC3-ADDD-67A62D8F1734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9C763-0F43-4E36-BEC0-13A57DFDB6F4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Thank You!</a:t>
          </a:r>
        </a:p>
      </dsp:txBody>
      <dsp:txXfrm>
        <a:off x="433546" y="784100"/>
        <a:ext cx="3211056" cy="1993740"/>
      </dsp:txXfrm>
    </dsp:sp>
    <dsp:sp modelId="{FE78AE6E-AF2D-4353-A69B-D3E2C7F0C540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540BE-6A59-4C5F-80AA-D3296C046249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Questions?</a:t>
          </a:r>
        </a:p>
      </dsp:txBody>
      <dsp:txXfrm>
        <a:off x="4509795" y="784100"/>
        <a:ext cx="3211056" cy="1993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Smart Warehouse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Computing Algorithms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Presented by: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- Abdelrahman </a:t>
            </a:r>
            <a:r>
              <a:rPr lang="en-US" sz="2400" dirty="0" err="1">
                <a:solidFill>
                  <a:schemeClr val="tx1"/>
                </a:solidFill>
              </a:rPr>
              <a:t>mostafa</a:t>
            </a:r>
            <a:r>
              <a:rPr lang="en-US" sz="2400" dirty="0">
                <a:solidFill>
                  <a:schemeClr val="tx1"/>
                </a:solidFill>
              </a:rPr>
              <a:t> (231027174)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- Yassin </a:t>
            </a:r>
            <a:r>
              <a:rPr lang="en-US" sz="2400" dirty="0" err="1">
                <a:solidFill>
                  <a:schemeClr val="tx1"/>
                </a:solidFill>
              </a:rPr>
              <a:t>eslam</a:t>
            </a:r>
            <a:r>
              <a:rPr lang="en-US" sz="2400" dirty="0">
                <a:solidFill>
                  <a:schemeClr val="tx1"/>
                </a:solidFill>
              </a:rPr>
              <a:t> (231017683)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- Ahmed </a:t>
            </a:r>
            <a:r>
              <a:rPr lang="en-US" sz="2400" dirty="0" err="1">
                <a:solidFill>
                  <a:schemeClr val="tx1"/>
                </a:solidFill>
              </a:rPr>
              <a:t>adel</a:t>
            </a:r>
            <a:r>
              <a:rPr lang="en-US" sz="2400" dirty="0">
                <a:solidFill>
                  <a:schemeClr val="tx1"/>
                </a:solidFill>
              </a:rPr>
              <a:t> (231007728)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- Omar </a:t>
            </a:r>
            <a:r>
              <a:rPr lang="en-US" sz="2400" dirty="0" err="1">
                <a:solidFill>
                  <a:schemeClr val="tx1"/>
                </a:solidFill>
              </a:rPr>
              <a:t>wael</a:t>
            </a:r>
            <a:r>
              <a:rPr lang="en-US" sz="2400" dirty="0">
                <a:solidFill>
                  <a:schemeClr val="tx1"/>
                </a:solidFill>
              </a:rPr>
              <a:t> (231007796)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Goal: Design an automated Warehouse Management System (WMS) for complete product lifecycle.</a:t>
            </a:r>
          </a:p>
          <a:p>
            <a:r>
              <a:rPr lang="en-US" sz="2000" dirty="0"/>
              <a:t>Inbound Receiving: Efficient intake of new inventory.</a:t>
            </a:r>
          </a:p>
          <a:p>
            <a:r>
              <a:rPr lang="en-US" sz="2000" dirty="0"/>
              <a:t>Slotting (Bin Packing): Optimizing product storage locations.</a:t>
            </a:r>
          </a:p>
          <a:p>
            <a:r>
              <a:rPr lang="en-US" sz="2000" dirty="0"/>
              <a:t>Outbound Picking (TSP): Shortest sequence item collection.</a:t>
            </a:r>
          </a:p>
          <a:p>
            <a:r>
              <a:rPr lang="en-US" sz="2000" dirty="0"/>
              <a:t>Replenishment: Automated restocking triggers.</a:t>
            </a:r>
          </a:p>
          <a:p>
            <a:r>
              <a:rPr lang="en-US" sz="2000" dirty="0"/>
              <a:t>Challenge: High-velocity items must be near packing stations.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Warehouse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8B54B-D544-B3FF-13A4-EE3BED112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9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Modeled as a Spatial Graph.</a:t>
            </a:r>
          </a:p>
          <a:p>
            <a:r>
              <a:rPr lang="en-US" sz="1600"/>
              <a:t>Nodes: Shelf locations, pick stations, and packing docks.</a:t>
            </a:r>
          </a:p>
          <a:p>
            <a:r>
              <a:rPr lang="en-US" sz="1600"/>
              <a:t>Edges: Aisle segments with travel-time weights.</a:t>
            </a:r>
          </a:p>
          <a:p>
            <a:r>
              <a:rPr lang="en-US" sz="1600"/>
              <a:t>Layout: 30x80 grid with clearly defined zones.</a:t>
            </a:r>
          </a:p>
          <a:p>
            <a:endParaRPr lang="en-US" sz="1600"/>
          </a:p>
          <a:p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Algorithm 1 - Dijkstra’s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A8C41-B91D-76E0-9533-F87F8880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1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Role: Shortest-path navigation.</a:t>
            </a:r>
          </a:p>
          <a:p>
            <a:r>
              <a:rPr lang="en-US" sz="1600"/>
              <a:t>Applied to find minimum distance between any two points.</a:t>
            </a:r>
          </a:p>
          <a:p>
            <a:r>
              <a:rPr lang="en-US" sz="1600"/>
              <a:t>Accounts for turns and aisle congestion via weights.</a:t>
            </a:r>
          </a:p>
          <a:p>
            <a:r>
              <a:rPr lang="en-US" sz="1600"/>
              <a:t>Technical Detail: Uses a Min-Heap (Priority Queue).</a:t>
            </a:r>
          </a:p>
          <a:p>
            <a:r>
              <a:rPr lang="en-US" sz="1600"/>
              <a:t>Complexity: O((V + E) log V) for real-time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/>
              <a:t>Algorithm 2 - Bin Packing (Slotting)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00AA9-AAA5-00EF-CAC0-D5F6C7B3F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6" y="457200"/>
            <a:ext cx="8276228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Role: Product placement strategy using Velocity.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ABC Strategy: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- Class A (Top 20%): High demand, closest to stations.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- Class B (Next 30%): Medium demand, mid-range zones.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- Class C (Remaining 50%): Low demand, far zones.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FFD Approach: First-Fit Decreasing ensures shelf efficiency.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Algorithm 3 - DP Pick Route Optimization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67A73-59F2-7D7C-4C68-9CFFE0621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0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Role: Multi-order 'Wave Picking' optimization.</a:t>
            </a:r>
          </a:p>
          <a:p>
            <a:r>
              <a:rPr lang="en-US" sz="1600"/>
              <a:t>The Problem: Traveling Salesperson Problem (TSP).</a:t>
            </a:r>
          </a:p>
          <a:p>
            <a:r>
              <a:rPr lang="en-US" sz="1600"/>
              <a:t>The Solution: Held-Karp Dynamic Programming.</a:t>
            </a:r>
          </a:p>
          <a:p>
            <a:r>
              <a:rPr lang="en-US" sz="1600"/>
              <a:t>Memoization: Uses a memo table to avoid redundant calculations.</a:t>
            </a:r>
          </a:p>
          <a:p>
            <a:r>
              <a:rPr lang="en-US" sz="1600"/>
              <a:t>Benefit: Guaranteed mathematically optimal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Held-Karp vs. Greedy Nearest Neighbor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Greedy: Always picks next closest item (Fast but suboptimal).</a:t>
            </a:r>
          </a:p>
          <a:p>
            <a:r>
              <a:rPr lang="en-US" sz="1900"/>
              <a:t>Held-Karp (DP): Looks at the whole trip at once.</a:t>
            </a:r>
          </a:p>
          <a:p>
            <a:r>
              <a:rPr lang="en-US" sz="1900"/>
              <a:t>Performance Gap: DP typically reduces distance by 10%–25%.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08168-40A0-3355-3547-30D6244A6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7" y="640080"/>
            <a:ext cx="436465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Algorithm 4 - Greedy Order Assignment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25CFF-787C-6C79-01AD-E201641FC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3" r="-1" b="-1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r>
              <a:rPr lang="en-US" sz="1500"/>
              <a:t>Role: Real-time workload balancing.</a:t>
            </a:r>
          </a:p>
          <a:p>
            <a:r>
              <a:rPr lang="en-US" sz="1500"/>
              <a:t>Rule: Assign to picker with shortest distance to first item.</a:t>
            </a:r>
          </a:p>
          <a:p>
            <a:r>
              <a:rPr lang="en-US" sz="1500"/>
              <a:t>Efficiency: Prevents bottlenecks and balances utilization.</a:t>
            </a:r>
          </a:p>
          <a:p>
            <a:r>
              <a:rPr lang="en-US" sz="1500"/>
              <a:t>Real-time Logic: Triggers new picking waves if window is missed.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Replenishment &amp;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Automation: Stock &lt; 5 units triggers replenishment.</a:t>
            </a:r>
          </a:p>
          <a:p>
            <a:r>
              <a:rPr lang="en-US" sz="2000" dirty="0"/>
              <a:t>Carts follow Dijkstra-optimized paths from Receiving.</a:t>
            </a:r>
          </a:p>
          <a:p>
            <a:r>
              <a:rPr lang="en-US" sz="2000" dirty="0"/>
              <a:t>Simulation: Real-time ticker with WebSocket updates.</a:t>
            </a:r>
          </a:p>
          <a:p>
            <a:r>
              <a:rPr lang="en-US" sz="2000" dirty="0"/>
              <a:t>Animates multiple pickers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Results &amp; Picker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Total Orders Completed: Success throughput.</a:t>
            </a:r>
          </a:p>
          <a:p>
            <a:r>
              <a:rPr lang="en-US" sz="2000" dirty="0"/>
              <a:t>Average Cycle Time: From creation to completion.</a:t>
            </a:r>
          </a:p>
          <a:p>
            <a:r>
              <a:rPr lang="en-US" sz="2000" dirty="0"/>
              <a:t>Average Utilization %: Picking time vs. idle time.</a:t>
            </a:r>
          </a:p>
          <a:p>
            <a:r>
              <a:rPr lang="en-US" sz="2000" dirty="0"/>
              <a:t>Total Walking Distance: Savings from DP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Conclusion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C9DDBD0-7962-A338-54E5-66201183B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08193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Q&amp;A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07CDE31-C41B-0E15-C5D6-C68C2033B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36580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501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Smart Warehouse System</vt:lpstr>
      <vt:lpstr>Project Overview &amp; Objectives</vt:lpstr>
      <vt:lpstr>Warehouse Model</vt:lpstr>
      <vt:lpstr>Algorithm 1 - Dijkstra’s Algorithm</vt:lpstr>
      <vt:lpstr>Algorithm 2 - Bin Packing (Slotting)</vt:lpstr>
      <vt:lpstr>Algorithm 3 - DP Pick Route Optimization</vt:lpstr>
      <vt:lpstr>Held-Karp vs. Greedy Nearest Neighbor</vt:lpstr>
      <vt:lpstr>Algorithm 4 - Greedy Order Assignment</vt:lpstr>
      <vt:lpstr>Replenishment &amp; Simulation</vt:lpstr>
      <vt:lpstr>Results &amp; Picker Efficiency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Adel</cp:lastModifiedBy>
  <cp:revision>2</cp:revision>
  <dcterms:created xsi:type="dcterms:W3CDTF">2013-01-27T09:14:16Z</dcterms:created>
  <dcterms:modified xsi:type="dcterms:W3CDTF">2026-05-12T01:27:49Z</dcterms:modified>
  <cp:category/>
</cp:coreProperties>
</file>